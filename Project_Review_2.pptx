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92" r:id="rId5"/>
    <p:sldId id="275" r:id="rId6"/>
    <p:sldId id="276" r:id="rId7"/>
    <p:sldId id="277" r:id="rId8"/>
    <p:sldId id="303" r:id="rId9"/>
    <p:sldId id="304" r:id="rId10"/>
    <p:sldId id="279" r:id="rId11"/>
    <p:sldId id="294" r:id="rId12"/>
    <p:sldId id="296" r:id="rId13"/>
    <p:sldId id="297" r:id="rId14"/>
    <p:sldId id="298" r:id="rId15"/>
    <p:sldId id="299" r:id="rId16"/>
    <p:sldId id="281" r:id="rId17"/>
    <p:sldId id="293" r:id="rId18"/>
    <p:sldId id="300" r:id="rId19"/>
    <p:sldId id="295" r:id="rId20"/>
    <p:sldId id="302" r:id="rId21"/>
    <p:sldId id="306" r:id="rId22"/>
    <p:sldId id="288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4400"/>
    <a:srgbClr val="F8F6F5"/>
    <a:srgbClr val="446992"/>
    <a:srgbClr val="AEC2D8"/>
    <a:srgbClr val="98432A"/>
    <a:srgbClr val="44678D"/>
    <a:srgbClr val="263E5A"/>
    <a:srgbClr val="D6E0EB"/>
    <a:srgbClr val="728DAB"/>
    <a:srgbClr val="C95B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634"/>
  </p:normalViewPr>
  <p:slideViewPr>
    <p:cSldViewPr snapToGrid="0" showGuides="1">
      <p:cViewPr varScale="1">
        <p:scale>
          <a:sx n="88" d="100"/>
          <a:sy n="88" d="100"/>
        </p:scale>
        <p:origin x="255" y="57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A894A48D-3417-BE20-3062-A366096904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AC9ED954-709D-51DC-3EA0-0E06FE1D7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F57F2FB-2942-7663-E6DB-E3A976549D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D31FE42-8AA6-DC9C-5EE7-8737143C1D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8D246-FB21-4ACB-9068-6447CC7872F8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F659C92-43C4-05C5-9170-5CF256AF9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4923A81-0599-8ECF-BDF0-A4898D468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F3159-94EB-4F6B-8273-09F1A6B01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71288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914374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3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235818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4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9613866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809061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8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7993361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13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774650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14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8890564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16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243314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32B1D-4FAF-F90C-195E-6E9FCE523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E1A37C-AAB6-31A1-8E6A-3D06053CF3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0062CC-406A-10F4-7C0E-AE944EC1D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3D32B0-2202-1511-AA97-A1C1D3AA19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17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994121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53C7A-9BE5-FF7C-E3FB-8B26871E5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ECB090-D257-EC04-A21A-BF8666DC58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EE2D79-5EF3-3D96-0FE7-F65D196F6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5431E-4978-FFD1-1162-A4C0F86B9F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18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167276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19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979302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12" y="114300"/>
            <a:ext cx="11024660" cy="6155871"/>
          </a:xfrm>
        </p:spPr>
        <p:txBody>
          <a:bodyPr/>
          <a:lstStyle/>
          <a:p>
            <a:pPr algn="ctr"/>
            <a:br>
              <a:rPr lang="en-IN" sz="20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IN" sz="20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IN" sz="20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IN" sz="20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IN" sz="2000" u="sng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u="sng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Analytics and Visualization (24DSB3101)</a:t>
            </a:r>
            <a:br>
              <a:rPr lang="en-IN" sz="20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IN" sz="20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IN" sz="20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 Explainable Machine Learning Framework for Predictive</a:t>
            </a:r>
            <a:br>
              <a:rPr lang="en-IN" sz="20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Financial Risk Assessment and Early Warning</a:t>
            </a:r>
            <a:br>
              <a:rPr lang="en-IN" sz="20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IN" sz="20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IN" sz="20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REVIEW – 2</a:t>
            </a:r>
            <a:br>
              <a:rPr lang="en-IN" sz="20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IN" sz="20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IN" sz="20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solidFill>
                  <a:srgbClr val="D844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Under the Guidance of</a:t>
            </a:r>
            <a:br>
              <a:rPr lang="en-IN" sz="20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IN" sz="20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IN" sz="20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solidFill>
                  <a:schemeClr val="tx2">
                    <a:lumMod val="50000"/>
                    <a:lumOff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Dr. K. Swapnika</a:t>
            </a:r>
            <a:br>
              <a:rPr lang="en-IN" sz="2000" dirty="0">
                <a:solidFill>
                  <a:schemeClr val="tx2">
                    <a:lumMod val="50000"/>
                    <a:lumOff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solidFill>
                  <a:schemeClr val="tx2">
                    <a:lumMod val="50000"/>
                    <a:lumOff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Assistant Professor</a:t>
            </a:r>
            <a:br>
              <a:rPr lang="en-IN" sz="20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IN" sz="20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IN" sz="20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br>
              <a:rPr lang="en-IN" sz="20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IN" sz="20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                                                                                                                    Submitted by: Batch 8</a:t>
            </a:r>
            <a:br>
              <a:rPr lang="en-IN" sz="20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                                                                                                                        2420080024 – P. Sai Akshitha </a:t>
            </a:r>
            <a:br>
              <a:rPr lang="en-IN" sz="20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                                                                                                                    2420080065 – K. Nithya Sri </a:t>
            </a:r>
            <a:br>
              <a:rPr lang="en-IN" sz="20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                                                                                                                      2420080100 – Syed </a:t>
            </a:r>
            <a:r>
              <a:rPr lang="en-IN" sz="2000" dirty="0" err="1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Zuvaria</a:t>
            </a:r>
            <a:r>
              <a:rPr lang="en-IN" sz="20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br>
              <a:rPr lang="en-IN" sz="20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                                                                                                                    2420090076 – S. Sushmita</a:t>
            </a:r>
            <a:br>
              <a:rPr lang="en-IN" sz="20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IN" sz="20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IN" sz="20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2000" dirty="0">
              <a:solidFill>
                <a:schemeClr val="tx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Freeform: Shape 11">
            <a:extLst>
              <a:ext uri="{FF2B5EF4-FFF2-40B4-BE49-F238E27FC236}">
                <a16:creationId xmlns:a16="http://schemas.microsoft.com/office/drawing/2014/main" id="{01A79B69-242C-3AEB-4A42-7A606A54C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57505" y="838985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030087-874C-B26F-FDE4-43104CDCE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9517" y="114300"/>
            <a:ext cx="1944793" cy="62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5DF64211-DCD8-B458-DBD2-EBDA7AE33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9" y="-181155"/>
            <a:ext cx="10515600" cy="1123451"/>
          </a:xfrm>
        </p:spPr>
        <p:txBody>
          <a:bodyPr/>
          <a:lstStyle/>
          <a:p>
            <a:br>
              <a:rPr lang="en-IN" dirty="0"/>
            </a:b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Contents</a:t>
            </a:r>
            <a:br>
              <a:rPr lang="en-IN" dirty="0"/>
            </a:b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BE681AB-301C-4DC8-7FBD-FAA2CC6606A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</a:t>
            </a:fld>
            <a:endParaRPr lang="en-US" altLang="zh-CN" dirty="0"/>
          </a:p>
        </p:txBody>
      </p:sp>
      <p:sp>
        <p:nvSpPr>
          <p:cNvPr id="21" name="Footer Placeholder 19">
            <a:extLst>
              <a:ext uri="{FF2B5EF4-FFF2-40B4-BE49-F238E27FC236}">
                <a16:creationId xmlns:a16="http://schemas.microsoft.com/office/drawing/2014/main" id="{A6E539FA-B60E-5585-524F-1BFA8C5B3E2F}"/>
              </a:ext>
            </a:extLst>
          </p:cNvPr>
          <p:cNvSpPr txBox="1">
            <a:spLocks/>
          </p:cNvSpPr>
          <p:nvPr/>
        </p:nvSpPr>
        <p:spPr>
          <a:xfrm>
            <a:off x="486699" y="6085719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tle</a:t>
            </a:r>
            <a:endParaRPr kumimoji="0" lang="en-US" sz="120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2D52D7-D448-8A28-9C8C-9CDCBD97E8FB}"/>
              </a:ext>
            </a:extLst>
          </p:cNvPr>
          <p:cNvSpPr txBox="1"/>
          <p:nvPr/>
        </p:nvSpPr>
        <p:spPr>
          <a:xfrm>
            <a:off x="422251" y="969171"/>
            <a:ext cx="11347497" cy="544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Proposed Methodology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Dataset &amp; Preprocessing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System Design / Architecture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Baseline Machine Learning Models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Optuna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-Based Model Optimization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Model Evaluation &amp; Selection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Explainable AI – SHAP &amp; LIME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Risk Score Generation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Early-Warning Mechanism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Interactive Dashboard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Modern Tools &amp; Technologies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Implementation &amp; Expected Results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Research Paper Draft Progress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FF6E67-2C19-C821-E76D-DBCDB03BA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9902" y="128722"/>
            <a:ext cx="1944793" cy="62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535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0" y="407393"/>
            <a:ext cx="7643004" cy="356969"/>
          </a:xfrm>
        </p:spPr>
        <p:txBody>
          <a:bodyPr/>
          <a:lstStyle/>
          <a:p>
            <a:pPr algn="ctr"/>
            <a:r>
              <a:rPr lang="en-IN" sz="4000" dirty="0">
                <a:latin typeface="Cambria" panose="02040503050406030204" pitchFamily="18" charset="0"/>
                <a:ea typeface="Cambria" panose="02040503050406030204" pitchFamily="18" charset="0"/>
              </a:rPr>
              <a:t>Proposed Methodology</a:t>
            </a:r>
            <a:br>
              <a:rPr lang="en-IN" sz="4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4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0093B1-77CC-1E61-FB22-E136F94EABD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767F8-4670-E83D-85F4-1446B8B9D466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3</a:t>
            </a:fld>
            <a:endParaRPr lang="en-US" altLang="zh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6B1111-96CD-0A51-991D-5A963328546F}"/>
              </a:ext>
            </a:extLst>
          </p:cNvPr>
          <p:cNvSpPr txBox="1"/>
          <p:nvPr/>
        </p:nvSpPr>
        <p:spPr>
          <a:xfrm>
            <a:off x="539239" y="661768"/>
            <a:ext cx="11871158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600" b="1" dirty="0"/>
              <a:t>Financial Dataset</a:t>
            </a:r>
            <a:endParaRPr lang="en-IN" sz="1600" dirty="0"/>
          </a:p>
          <a:p>
            <a:pPr algn="ctr">
              <a:buNone/>
            </a:pPr>
            <a:r>
              <a:rPr lang="en-IN" sz="1600" dirty="0"/>
              <a:t>↓</a:t>
            </a:r>
          </a:p>
          <a:p>
            <a:pPr algn="ctr">
              <a:buNone/>
            </a:pPr>
            <a:r>
              <a:rPr lang="en-IN" sz="1600" b="1" dirty="0"/>
              <a:t>Data Preprocessing &amp; EDA</a:t>
            </a:r>
            <a:endParaRPr lang="en-IN" sz="1600" dirty="0"/>
          </a:p>
          <a:p>
            <a:pPr algn="ctr">
              <a:buNone/>
            </a:pPr>
            <a:r>
              <a:rPr lang="en-IN" sz="1600" dirty="0"/>
              <a:t>↓</a:t>
            </a:r>
          </a:p>
          <a:p>
            <a:pPr algn="ctr">
              <a:buNone/>
            </a:pPr>
            <a:r>
              <a:rPr lang="en-IN" sz="1600" b="1" dirty="0"/>
              <a:t>Feature Engineering &amp; Selection</a:t>
            </a:r>
            <a:endParaRPr lang="en-IN" sz="1600" dirty="0"/>
          </a:p>
          <a:p>
            <a:pPr algn="ctr">
              <a:buNone/>
            </a:pPr>
            <a:r>
              <a:rPr lang="en-IN" sz="1600" dirty="0"/>
              <a:t>↓</a:t>
            </a:r>
          </a:p>
          <a:p>
            <a:pPr algn="ctr">
              <a:buNone/>
            </a:pPr>
            <a:r>
              <a:rPr lang="en-IN" sz="1600" b="1" dirty="0"/>
              <a:t>Class Imbalance Handling</a:t>
            </a:r>
            <a:endParaRPr lang="en-IN" sz="1600" dirty="0"/>
          </a:p>
          <a:p>
            <a:pPr algn="ctr">
              <a:buNone/>
            </a:pPr>
            <a:r>
              <a:rPr lang="en-IN" sz="1600" dirty="0"/>
              <a:t>↓</a:t>
            </a:r>
          </a:p>
          <a:p>
            <a:pPr algn="ctr">
              <a:buNone/>
            </a:pPr>
            <a:r>
              <a:rPr lang="en-IN" sz="1600" b="1" dirty="0"/>
              <a:t>Baseline ML Models</a:t>
            </a:r>
          </a:p>
          <a:p>
            <a:pPr algn="ctr">
              <a:buNone/>
            </a:pPr>
            <a:r>
              <a:rPr lang="en-IN" sz="1600" dirty="0"/>
              <a:t>Logistic Regression | Random Forest | </a:t>
            </a:r>
            <a:r>
              <a:rPr lang="en-IN" sz="1600" dirty="0" err="1"/>
              <a:t>XGBoost</a:t>
            </a:r>
            <a:r>
              <a:rPr lang="en-IN" sz="1600" dirty="0"/>
              <a:t> | </a:t>
            </a:r>
            <a:r>
              <a:rPr lang="en-IN" sz="1600" dirty="0" err="1"/>
              <a:t>LightGBM</a:t>
            </a:r>
            <a:r>
              <a:rPr lang="en-IN" sz="1600" dirty="0"/>
              <a:t> | </a:t>
            </a:r>
            <a:r>
              <a:rPr lang="en-IN" sz="1600" dirty="0" err="1"/>
              <a:t>CatBoost</a:t>
            </a:r>
            <a:endParaRPr lang="en-IN" sz="1600" dirty="0"/>
          </a:p>
          <a:p>
            <a:pPr algn="ctr">
              <a:buNone/>
            </a:pPr>
            <a:r>
              <a:rPr lang="en-IN" sz="1600" dirty="0"/>
              <a:t>↓</a:t>
            </a:r>
          </a:p>
          <a:p>
            <a:pPr algn="ctr">
              <a:buNone/>
            </a:pPr>
            <a:r>
              <a:rPr lang="en-IN" sz="1600" b="1" dirty="0" err="1"/>
              <a:t>Optuna</a:t>
            </a:r>
            <a:r>
              <a:rPr lang="en-IN" sz="1600" b="1" dirty="0"/>
              <a:t> Hyperparameter Optimization</a:t>
            </a:r>
          </a:p>
          <a:p>
            <a:pPr algn="ctr">
              <a:buNone/>
            </a:pPr>
            <a:r>
              <a:rPr lang="en-IN" sz="1600" dirty="0"/>
              <a:t>↓</a:t>
            </a:r>
          </a:p>
          <a:p>
            <a:pPr algn="ctr">
              <a:buNone/>
            </a:pPr>
            <a:r>
              <a:rPr lang="en-IN" sz="1600" b="1" dirty="0"/>
              <a:t>Best Optimized Model</a:t>
            </a:r>
          </a:p>
          <a:p>
            <a:pPr algn="ctr">
              <a:buNone/>
            </a:pPr>
            <a:r>
              <a:rPr lang="en-IN" sz="1600" dirty="0"/>
              <a:t>↓</a:t>
            </a:r>
          </a:p>
          <a:p>
            <a:pPr algn="ctr">
              <a:buNone/>
            </a:pPr>
            <a:r>
              <a:rPr lang="en-IN" sz="1600" b="1" dirty="0"/>
              <a:t>SHAP + LIME Explainability</a:t>
            </a:r>
          </a:p>
          <a:p>
            <a:pPr algn="ctr">
              <a:buNone/>
            </a:pPr>
            <a:r>
              <a:rPr lang="en-IN" sz="1600" dirty="0"/>
              <a:t>↓</a:t>
            </a:r>
          </a:p>
          <a:p>
            <a:pPr algn="ctr">
              <a:buNone/>
            </a:pPr>
            <a:r>
              <a:rPr lang="en-IN" sz="1600" b="1" dirty="0"/>
              <a:t>Risk Score Generation</a:t>
            </a:r>
          </a:p>
          <a:p>
            <a:pPr algn="ctr">
              <a:buNone/>
            </a:pPr>
            <a:r>
              <a:rPr lang="en-IN" sz="1600" dirty="0"/>
              <a:t>↓</a:t>
            </a:r>
          </a:p>
          <a:p>
            <a:pPr algn="ctr">
              <a:buNone/>
            </a:pPr>
            <a:r>
              <a:rPr lang="en-IN" sz="1600" b="1" dirty="0"/>
              <a:t>Low / Medium / High Risk Classification</a:t>
            </a:r>
          </a:p>
          <a:p>
            <a:pPr algn="ctr">
              <a:buNone/>
            </a:pPr>
            <a:r>
              <a:rPr lang="en-IN" sz="1600" dirty="0"/>
              <a:t>↓</a:t>
            </a:r>
          </a:p>
          <a:p>
            <a:pPr algn="ctr">
              <a:buNone/>
            </a:pPr>
            <a:r>
              <a:rPr lang="en-IN" sz="1600" b="1" dirty="0"/>
              <a:t>Early-Warning Mechanism</a:t>
            </a:r>
          </a:p>
          <a:p>
            <a:pPr algn="ctr">
              <a:buNone/>
            </a:pPr>
            <a:r>
              <a:rPr lang="en-IN" sz="1600" dirty="0"/>
              <a:t>↓</a:t>
            </a:r>
          </a:p>
          <a:p>
            <a:pPr algn="ctr">
              <a:buNone/>
            </a:pPr>
            <a:r>
              <a:rPr lang="en-IN" sz="1600" b="1" dirty="0"/>
              <a:t>Interactive Financial Risk Dashboard</a:t>
            </a:r>
          </a:p>
          <a:p>
            <a:pPr algn="ctr">
              <a:buNone/>
            </a:pPr>
            <a:endParaRPr lang="en-IN" sz="1600" b="1" dirty="0"/>
          </a:p>
          <a:p>
            <a:pPr algn="ctr">
              <a:buNone/>
            </a:pPr>
            <a:endParaRPr lang="en-IN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D68ABB-2439-A327-68B5-4A6E2B1D0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2931" y="274955"/>
            <a:ext cx="1944793" cy="62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54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F1395-7218-9BAA-4CA1-5F98D6414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43" y="138022"/>
            <a:ext cx="8489625" cy="483823"/>
          </a:xfrm>
        </p:spPr>
        <p:txBody>
          <a:bodyPr/>
          <a:lstStyle/>
          <a:p>
            <a:r>
              <a:rPr lang="en-IN" sz="3600" dirty="0">
                <a:latin typeface="Cambria" panose="02040503050406030204" pitchFamily="18" charset="0"/>
                <a:ea typeface="Cambria" panose="02040503050406030204" pitchFamily="18" charset="0"/>
              </a:rPr>
              <a:t>Dataset &amp; Data Preprocessing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72B9EA-C790-0EC2-943C-64E71997185A}"/>
              </a:ext>
            </a:extLst>
          </p:cNvPr>
          <p:cNvSpPr txBox="1"/>
          <p:nvPr/>
        </p:nvSpPr>
        <p:spPr>
          <a:xfrm>
            <a:off x="272715" y="768962"/>
            <a:ext cx="11646569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latin typeface="Cambria" panose="02040503050406030204" pitchFamily="18" charset="0"/>
                <a:ea typeface="Cambria" panose="02040503050406030204" pitchFamily="18" charset="0"/>
              </a:rPr>
              <a:t>Dataset Processing</a:t>
            </a:r>
          </a:p>
          <a:p>
            <a:pPr>
              <a:buNone/>
            </a:pPr>
            <a:r>
              <a:rPr lang="en-IN" sz="1400" b="1" dirty="0">
                <a:latin typeface="Cambria" panose="02040503050406030204" pitchFamily="18" charset="0"/>
                <a:ea typeface="Cambria" panose="02040503050406030204" pitchFamily="18" charset="0"/>
              </a:rPr>
              <a:t>Give Me Some Credit Dataset</a:t>
            </a:r>
            <a:endParaRPr lang="en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None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↓</a:t>
            </a:r>
          </a:p>
          <a:p>
            <a:pPr>
              <a:buNone/>
            </a:pPr>
            <a:r>
              <a:rPr lang="en-IN" sz="1400" b="1" dirty="0">
                <a:latin typeface="Cambria" panose="02040503050406030204" pitchFamily="18" charset="0"/>
                <a:ea typeface="Cambria" panose="02040503050406030204" pitchFamily="18" charset="0"/>
              </a:rPr>
              <a:t>Data Cleaning</a:t>
            </a:r>
            <a:b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Handle missing values and duplicates</a:t>
            </a:r>
          </a:p>
          <a:p>
            <a:pPr>
              <a:buNone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↓</a:t>
            </a:r>
          </a:p>
          <a:p>
            <a:pPr>
              <a:buNone/>
            </a:pPr>
            <a:r>
              <a:rPr lang="en-IN" sz="1400" b="1" dirty="0">
                <a:latin typeface="Cambria" panose="02040503050406030204" pitchFamily="18" charset="0"/>
                <a:ea typeface="Cambria" panose="02040503050406030204" pitchFamily="18" charset="0"/>
              </a:rPr>
              <a:t>Exploratory Data Analysis (EDA)</a:t>
            </a:r>
            <a:b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Study feature distributions, correlations, outliers and risk-class distribution</a:t>
            </a:r>
          </a:p>
          <a:p>
            <a:pPr>
              <a:buNone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↓</a:t>
            </a:r>
          </a:p>
          <a:p>
            <a:pPr>
              <a:buNone/>
            </a:pPr>
            <a:r>
              <a:rPr lang="en-IN" sz="1400" b="1" dirty="0">
                <a:latin typeface="Cambria" panose="02040503050406030204" pitchFamily="18" charset="0"/>
                <a:ea typeface="Cambria" panose="02040503050406030204" pitchFamily="18" charset="0"/>
              </a:rPr>
              <a:t>Outlier Handling</a:t>
            </a:r>
            <a:endParaRPr lang="en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None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↓</a:t>
            </a:r>
          </a:p>
          <a:p>
            <a:pPr>
              <a:buNone/>
            </a:pPr>
            <a:r>
              <a:rPr lang="en-IN" sz="1400" b="1" dirty="0">
                <a:latin typeface="Cambria" panose="02040503050406030204" pitchFamily="18" charset="0"/>
                <a:ea typeface="Cambria" panose="02040503050406030204" pitchFamily="18" charset="0"/>
              </a:rPr>
              <a:t>Feature Scaling</a:t>
            </a:r>
            <a:endParaRPr lang="en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None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↓</a:t>
            </a:r>
          </a:p>
          <a:p>
            <a:pPr>
              <a:buNone/>
            </a:pPr>
            <a:r>
              <a:rPr lang="en-IN" sz="1400" b="1" dirty="0">
                <a:latin typeface="Cambria" panose="02040503050406030204" pitchFamily="18" charset="0"/>
                <a:ea typeface="Cambria" panose="02040503050406030204" pitchFamily="18" charset="0"/>
              </a:rPr>
              <a:t>Feature Engineering &amp; Selection</a:t>
            </a:r>
            <a:endParaRPr lang="en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None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↓</a:t>
            </a:r>
          </a:p>
          <a:p>
            <a:pPr>
              <a:buNone/>
            </a:pPr>
            <a:r>
              <a:rPr lang="en-IN" sz="1400" b="1" dirty="0">
                <a:latin typeface="Cambria" panose="02040503050406030204" pitchFamily="18" charset="0"/>
                <a:ea typeface="Cambria" panose="02040503050406030204" pitchFamily="18" charset="0"/>
              </a:rPr>
              <a:t>Class Imbalance Handling</a:t>
            </a:r>
            <a:b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SMOTE / Class Weights</a:t>
            </a:r>
          </a:p>
          <a:p>
            <a:pPr>
              <a:buNone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↓</a:t>
            </a:r>
          </a:p>
          <a:p>
            <a:pPr>
              <a:buNone/>
            </a:pPr>
            <a:r>
              <a:rPr lang="en-IN" sz="1400" b="1" dirty="0">
                <a:latin typeface="Cambria" panose="02040503050406030204" pitchFamily="18" charset="0"/>
                <a:ea typeface="Cambria" panose="02040503050406030204" pitchFamily="18" charset="0"/>
              </a:rPr>
              <a:t>Train-Test Split</a:t>
            </a:r>
            <a:endParaRPr lang="en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None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↓</a:t>
            </a:r>
          </a:p>
          <a:p>
            <a:pPr>
              <a:buNone/>
            </a:pPr>
            <a:r>
              <a:rPr lang="en-IN" sz="1400" b="1" dirty="0">
                <a:latin typeface="Cambria" panose="02040503050406030204" pitchFamily="18" charset="0"/>
                <a:ea typeface="Cambria" panose="02040503050406030204" pitchFamily="18" charset="0"/>
              </a:rPr>
              <a:t>Model Training</a:t>
            </a:r>
            <a:endParaRPr lang="en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None/>
            </a:pPr>
            <a:r>
              <a:rPr lang="en-IN" sz="1400" b="1" dirty="0">
                <a:latin typeface="Cambria" panose="02040503050406030204" pitchFamily="18" charset="0"/>
                <a:ea typeface="Cambria" panose="02040503050406030204" pitchFamily="18" charset="0"/>
              </a:rPr>
              <a:t>Final System Output</a:t>
            </a:r>
          </a:p>
          <a:p>
            <a:pPr>
              <a:buNone/>
            </a:pPr>
            <a:r>
              <a:rPr lang="en-IN" sz="1400" b="1" dirty="0">
                <a:latin typeface="Cambria" panose="02040503050406030204" pitchFamily="18" charset="0"/>
                <a:ea typeface="Cambria" panose="02040503050406030204" pitchFamily="18" charset="0"/>
              </a:rPr>
              <a:t>Default/Risk Probability</a:t>
            </a:r>
            <a:endParaRPr lang="en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None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↓</a:t>
            </a:r>
          </a:p>
          <a:p>
            <a:pPr>
              <a:buNone/>
            </a:pPr>
            <a:r>
              <a:rPr lang="en-IN" sz="1400" b="1" dirty="0">
                <a:latin typeface="Cambria" panose="02040503050406030204" pitchFamily="18" charset="0"/>
                <a:ea typeface="Cambria" panose="02040503050406030204" pitchFamily="18" charset="0"/>
              </a:rPr>
              <a:t>Risk Score: 0–100</a:t>
            </a:r>
            <a:endParaRPr lang="en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None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↓</a:t>
            </a:r>
          </a:p>
          <a:p>
            <a:pPr>
              <a:buNone/>
            </a:pPr>
            <a:r>
              <a:rPr lang="en-IN" sz="1400" b="1" dirty="0">
                <a:latin typeface="Cambria" panose="02040503050406030204" pitchFamily="18" charset="0"/>
                <a:ea typeface="Cambria" panose="02040503050406030204" pitchFamily="18" charset="0"/>
              </a:rPr>
              <a:t>Risk Category</a:t>
            </a:r>
            <a:endParaRPr lang="en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None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🟢 </a:t>
            </a:r>
            <a:r>
              <a:rPr lang="en-IN" sz="1400" b="1" dirty="0">
                <a:latin typeface="Cambria" panose="02040503050406030204" pitchFamily="18" charset="0"/>
                <a:ea typeface="Cambria" panose="02040503050406030204" pitchFamily="18" charset="0"/>
              </a:rPr>
              <a:t>Low Risk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 | 🟠 </a:t>
            </a:r>
            <a:r>
              <a:rPr lang="en-IN" sz="1400" b="1" dirty="0">
                <a:latin typeface="Cambria" panose="02040503050406030204" pitchFamily="18" charset="0"/>
                <a:ea typeface="Cambria" panose="02040503050406030204" pitchFamily="18" charset="0"/>
              </a:rPr>
              <a:t>Medium Risk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 | 🔴 </a:t>
            </a:r>
            <a:r>
              <a:rPr lang="en-IN" sz="1400" b="1" dirty="0">
                <a:latin typeface="Cambria" panose="02040503050406030204" pitchFamily="18" charset="0"/>
                <a:ea typeface="Cambria" panose="02040503050406030204" pitchFamily="18" charset="0"/>
              </a:rPr>
              <a:t>High Risk</a:t>
            </a:r>
            <a:endParaRPr lang="en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6D74AC-A62A-D60A-C92A-B2302BA5A1BA}"/>
              </a:ext>
            </a:extLst>
          </p:cNvPr>
          <p:cNvSpPr txBox="1"/>
          <p:nvPr/>
        </p:nvSpPr>
        <p:spPr>
          <a:xfrm>
            <a:off x="7401464" y="1120676"/>
            <a:ext cx="406304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Dataset: Give Me Some Credit</a:t>
            </a:r>
          </a:p>
          <a:p>
            <a:pPr>
              <a:buNone/>
            </a:pP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None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Purpose:</a:t>
            </a:r>
            <a:b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The dataset will be used to develop a machine-learning model for predicting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customer credit/default risk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FE6448-0407-C8FF-F075-2F8D0D88A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6732" y="227920"/>
            <a:ext cx="1944793" cy="62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079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1C6230D-DCCF-F21C-E7FD-1B152A402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7857" y="274955"/>
            <a:ext cx="10515600" cy="1115434"/>
          </a:xfrm>
        </p:spPr>
        <p:txBody>
          <a:bodyPr/>
          <a:lstStyle/>
          <a:p>
            <a:r>
              <a:rPr lang="en-US" dirty="0"/>
              <a:t>System Architecture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8499F-EADD-90BA-9DE1-A52BF553F7E9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5</a:t>
            </a:fld>
            <a:endParaRPr lang="en-US" altLang="zh-C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8A84A20-B300-3218-BDC2-6F26AE88E6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0" t="1488"/>
          <a:stretch>
            <a:fillRect/>
          </a:stretch>
        </p:blipFill>
        <p:spPr>
          <a:xfrm>
            <a:off x="2223951" y="1229613"/>
            <a:ext cx="7878783" cy="5203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3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E88E70-EF48-4164-4ECD-273A04AB783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F118D1-90F9-49C6-E18E-FEF9D16BEAE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6</a:t>
            </a:fld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4AEAE1-1633-D1D7-550F-43ED12922FA6}"/>
              </a:ext>
            </a:extLst>
          </p:cNvPr>
          <p:cNvSpPr txBox="1"/>
          <p:nvPr/>
        </p:nvSpPr>
        <p:spPr>
          <a:xfrm>
            <a:off x="903513" y="685800"/>
            <a:ext cx="10863943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Raw Financial Dataset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– We start with the UCI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Statlog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German Credit dataset containing demographic, financial, loan, and credit-history features.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Preprocessing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– Missing values are handled, categorical data is encoded, features are standardized, and the data is cleaned.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SMOTE Balancing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– The data is divided into 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70% training and 30% testing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 SMOTE is applied to the training data to handle class imbalance.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 err="1">
                <a:latin typeface="Cambria" panose="02040503050406030204" pitchFamily="18" charset="0"/>
                <a:ea typeface="Cambria" panose="02040503050406030204" pitchFamily="18" charset="0"/>
              </a:rPr>
              <a:t>Optuna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 Optimization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Optuna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performs hyperparameter optimization for five models: 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Logistic Regression, SVM, Decision Tree, Random Forest, and Gradient Boosting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Model Evaluation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– The models are trained and compared using 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Accuracy, Precision, Recall, F1-Score, and ROC-AUC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Explainable AI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SHAP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provides global explanations of which features influence the model, while 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LIME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explains individual predictions.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Risk Decision Support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– Based on the predicted risk score, the system categorizes applicants into 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Low, Medium, or High Risk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, with corresponding actions such as approval, review, or rejection.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Final Output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– The system produces the 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risk score, risk category, important feature explanations, recommended action, and a natural-language justification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>
              <a:buNone/>
            </a:pP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Dataset → Preprocessing → SMOTE → </a:t>
            </a:r>
            <a:r>
              <a:rPr lang="en-IN" b="1" dirty="0" err="1">
                <a:latin typeface="Cambria" panose="02040503050406030204" pitchFamily="18" charset="0"/>
                <a:ea typeface="Cambria" panose="02040503050406030204" pitchFamily="18" charset="0"/>
              </a:rPr>
              <a:t>Optuna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 Optimization → Model Training &amp; Evaluation → SHAP + LIME → Risk Decision → Final Explanation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024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77" y="91810"/>
            <a:ext cx="10889796" cy="753579"/>
          </a:xfrm>
        </p:spPr>
        <p:txBody>
          <a:bodyPr/>
          <a:lstStyle/>
          <a:p>
            <a:r>
              <a:rPr lang="en-IN" sz="3600" dirty="0">
                <a:latin typeface="Cambria" panose="02040503050406030204" pitchFamily="18" charset="0"/>
                <a:ea typeface="Cambria" panose="02040503050406030204" pitchFamily="18" charset="0"/>
              </a:rPr>
              <a:t>Baseline Machine Learning Models</a:t>
            </a:r>
            <a:endParaRPr lang="en-US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25C86-7BE3-4BC6-C0B8-7F7D7C3EC28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7</a:t>
            </a:fld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635651-1F28-3D70-370C-530F2789733E}"/>
              </a:ext>
            </a:extLst>
          </p:cNvPr>
          <p:cNvSpPr txBox="1"/>
          <p:nvPr/>
        </p:nvSpPr>
        <p:spPr>
          <a:xfrm>
            <a:off x="243695" y="746032"/>
            <a:ext cx="1033228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Baseline Model Training</a:t>
            </a:r>
          </a:p>
          <a:p>
            <a:pPr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Multiple machine-learning models will first be trained using their initial/default configurations.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38C3811-CEBC-AFE7-DED4-4DCC690E7D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241216"/>
              </p:ext>
            </p:extLst>
          </p:nvPr>
        </p:nvGraphicFramePr>
        <p:xfrm>
          <a:off x="268475" y="1596840"/>
          <a:ext cx="7572936" cy="219456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3044068">
                  <a:extLst>
                    <a:ext uri="{9D8B030D-6E8A-4147-A177-3AD203B41FA5}">
                      <a16:colId xmlns:a16="http://schemas.microsoft.com/office/drawing/2014/main" val="2087281553"/>
                    </a:ext>
                  </a:extLst>
                </a:gridCol>
                <a:gridCol w="4528868">
                  <a:extLst>
                    <a:ext uri="{9D8B030D-6E8A-4147-A177-3AD203B41FA5}">
                      <a16:colId xmlns:a16="http://schemas.microsoft.com/office/drawing/2014/main" val="18283267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4805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Logistic Regression</a:t>
                      </a:r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Simple baseline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7779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Random Forest</a:t>
                      </a:r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Handles nonlinear relationships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2232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XGBoost</a:t>
                      </a:r>
                      <a:endParaRPr lang="en-IN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Boosting-based risk 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2425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LightGBM</a:t>
                      </a:r>
                      <a:endParaRPr lang="en-IN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Efficient gradient boosting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1812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CatBoost</a:t>
                      </a:r>
                      <a:endParaRPr lang="en-IN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Handles complex/categorical features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3281525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395A44A0-FD62-60F4-010D-1400035D9D2D}"/>
              </a:ext>
            </a:extLst>
          </p:cNvPr>
          <p:cNvSpPr txBox="1"/>
          <p:nvPr/>
        </p:nvSpPr>
        <p:spPr>
          <a:xfrm>
            <a:off x="381717" y="3978554"/>
            <a:ext cx="861532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Why Multiple Models?</a:t>
            </a:r>
          </a:p>
          <a:p>
            <a:pPr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Different ML algorithms may perform differently on financial data.</a:t>
            </a:r>
          </a:p>
          <a:p>
            <a:pPr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`</a:t>
            </a:r>
          </a:p>
          <a:p>
            <a:pPr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Therefore, we:</a:t>
            </a:r>
          </a:p>
          <a:p>
            <a:pPr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Train → Evaluate → Optimize → Compare → Select Best Model</a:t>
            </a:r>
          </a:p>
          <a:p>
            <a:pPr>
              <a:buNone/>
            </a:pP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`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Evaluation Metrics</a:t>
            </a:r>
          </a:p>
          <a:p>
            <a:pPr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Accuracy | Precision | Recall | F1-Score | ROC-AUC| Infidelity| Fidelity | Stability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7CA8C7-308C-478C-FBCD-11B93F39D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1417" y="223543"/>
            <a:ext cx="1944793" cy="62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021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FC30D-10DA-6B7B-CA3B-AF1F5B26A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44" y="160821"/>
            <a:ext cx="10889796" cy="736327"/>
          </a:xfrm>
        </p:spPr>
        <p:txBody>
          <a:bodyPr/>
          <a:lstStyle/>
          <a:p>
            <a:r>
              <a:rPr lang="en-IN" sz="3600" dirty="0" err="1">
                <a:latin typeface="Cambria" panose="02040503050406030204" pitchFamily="18" charset="0"/>
                <a:ea typeface="Cambria" panose="02040503050406030204" pitchFamily="18" charset="0"/>
              </a:rPr>
              <a:t>Optuna</a:t>
            </a:r>
            <a:r>
              <a:rPr lang="en-IN" sz="3600" dirty="0">
                <a:latin typeface="Cambria" panose="02040503050406030204" pitchFamily="18" charset="0"/>
                <a:ea typeface="Cambria" panose="02040503050406030204" pitchFamily="18" charset="0"/>
              </a:rPr>
              <a:t>-Based Model Optimization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1C7500-E032-DBB5-A780-8247E3B7367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8</a:t>
            </a:fld>
            <a:endParaRPr lang="en-US" altLang="zh-CN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2CEC6EF-006F-693B-5D79-47FD797CB22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519988" y="3695700"/>
            <a:ext cx="4672012" cy="1687513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E1E678-AF57-8719-DC50-6A51BC7999E0}"/>
              </a:ext>
            </a:extLst>
          </p:cNvPr>
          <p:cNvSpPr txBox="1"/>
          <p:nvPr/>
        </p:nvSpPr>
        <p:spPr>
          <a:xfrm>
            <a:off x="664234" y="733094"/>
            <a:ext cx="8913243" cy="5925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sz="1600" b="1" dirty="0">
                <a:latin typeface="Cambria" panose="02040503050406030204" pitchFamily="18" charset="0"/>
                <a:ea typeface="Cambria" panose="02040503050406030204" pitchFamily="18" charset="0"/>
              </a:rPr>
              <a:t>Why Optimization?</a:t>
            </a:r>
          </a:p>
          <a:p>
            <a:pPr>
              <a:lnSpc>
                <a:spcPct val="200000"/>
              </a:lnSpc>
              <a:buNone/>
            </a:pP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Default model parameters may not provide the best prediction performance.</a:t>
            </a:r>
          </a:p>
          <a:p>
            <a:pPr>
              <a:lnSpc>
                <a:spcPct val="200000"/>
              </a:lnSpc>
              <a:buNone/>
            </a:pP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Therefore, we use:</a:t>
            </a:r>
          </a:p>
          <a:p>
            <a:pPr>
              <a:lnSpc>
                <a:spcPct val="200000"/>
              </a:lnSpc>
              <a:buNone/>
            </a:pPr>
            <a:r>
              <a:rPr lang="en-IN" sz="1600" b="1" dirty="0" err="1">
                <a:latin typeface="Cambria" panose="02040503050406030204" pitchFamily="18" charset="0"/>
                <a:ea typeface="Cambria" panose="02040503050406030204" pitchFamily="18" charset="0"/>
              </a:rPr>
              <a:t>Optuna</a:t>
            </a:r>
            <a:r>
              <a:rPr lang="en-IN" sz="1600" b="1" dirty="0">
                <a:latin typeface="Cambria" panose="02040503050406030204" pitchFamily="18" charset="0"/>
                <a:ea typeface="Cambria" panose="02040503050406030204" pitchFamily="18" charset="0"/>
              </a:rPr>
              <a:t> Hyperparameter Optimization</a:t>
            </a:r>
          </a:p>
          <a:p>
            <a:pPr>
              <a:lnSpc>
                <a:spcPct val="200000"/>
              </a:lnSpc>
              <a:buNone/>
            </a:pP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Optuna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automatically searches for better combinations of model hyperparameters.</a:t>
            </a:r>
          </a:p>
          <a:p>
            <a:pPr>
              <a:lnSpc>
                <a:spcPct val="200000"/>
              </a:lnSpc>
              <a:buNone/>
            </a:pPr>
            <a:r>
              <a:rPr lang="en-IN" sz="1600" b="1" dirty="0">
                <a:latin typeface="Cambria" panose="02040503050406030204" pitchFamily="18" charset="0"/>
                <a:ea typeface="Cambria" panose="02040503050406030204" pitchFamily="18" charset="0"/>
              </a:rPr>
              <a:t>Example – </a:t>
            </a:r>
            <a:r>
              <a:rPr lang="en-IN" sz="1600" b="1" dirty="0" err="1">
                <a:latin typeface="Cambria" panose="02040503050406030204" pitchFamily="18" charset="0"/>
                <a:ea typeface="Cambria" panose="02040503050406030204" pitchFamily="18" charset="0"/>
              </a:rPr>
              <a:t>XGBoost</a:t>
            </a:r>
            <a:endParaRPr lang="en-IN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Optuna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can optimize parameters such as: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n_estimators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max_depth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learning_rate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subsample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colsample_bytree</a:t>
            </a: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45638B-73DB-EE7C-F56B-FEBEC525D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9543" y="291631"/>
            <a:ext cx="1944793" cy="62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5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8E880-1703-B4DB-D8F7-6FF7B52A3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37" y="172490"/>
            <a:ext cx="10772091" cy="682719"/>
          </a:xfrm>
        </p:spPr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Model Evaluation &amp; Selection </a:t>
            </a: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E6EC61-0E96-F35E-CB72-454A96B1572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9</a:t>
            </a:fld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FF7045-9A38-18F2-1D61-67C692D46EE1}"/>
              </a:ext>
            </a:extLst>
          </p:cNvPr>
          <p:cNvSpPr txBox="1"/>
          <p:nvPr/>
        </p:nvSpPr>
        <p:spPr>
          <a:xfrm>
            <a:off x="588046" y="855209"/>
            <a:ext cx="610144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Models Considered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Logistic Regression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Random Forest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 err="1"/>
              <a:t>XGBoost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 err="1"/>
              <a:t>LightGBM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 err="1"/>
              <a:t>CatBoost</a:t>
            </a:r>
            <a:r>
              <a:rPr lang="en-IN" dirty="0"/>
              <a:t> </a:t>
            </a:r>
          </a:p>
          <a:p>
            <a:r>
              <a:rPr lang="en-IN" b="1" dirty="0"/>
              <a:t>Evaluation Metrics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Accuracy</a:t>
            </a:r>
            <a:r>
              <a:rPr lang="en-IN" dirty="0"/>
              <a:t> – Overall percentage of correct predictions.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Precision</a:t>
            </a:r>
            <a:r>
              <a:rPr lang="en-IN" dirty="0"/>
              <a:t> – How many predicted risky cases are actually risky.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Recall</a:t>
            </a:r>
            <a:r>
              <a:rPr lang="en-IN" dirty="0"/>
              <a:t> – How many actual risky cases are correctly detected.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F1-Score</a:t>
            </a:r>
            <a:r>
              <a:rPr lang="en-IN" dirty="0"/>
              <a:t> – Balance between Precision and Recall.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ROC-AUC</a:t>
            </a:r>
            <a:r>
              <a:rPr lang="en-IN" dirty="0"/>
              <a:t> – Measures the model's ability to distinguish between risk classes. </a:t>
            </a:r>
          </a:p>
          <a:p>
            <a:r>
              <a:rPr lang="en-IN" b="1" dirty="0"/>
              <a:t>Selection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model will be selected based on its overall performance across these evaluation metrics, with particular attention to </a:t>
            </a:r>
            <a:r>
              <a:rPr lang="en-IN" b="1" dirty="0"/>
              <a:t>Recall, F1-Score and ROC-AUC</a:t>
            </a:r>
            <a:r>
              <a:rPr lang="en-IN" dirty="0"/>
              <a:t> for risk detection.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604ED1-B913-4A06-FC42-C1A4A2BBE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60" y="233363"/>
            <a:ext cx="1944793" cy="62184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31D08BF-3877-AB50-FDA8-723C8E638DF9}"/>
              </a:ext>
            </a:extLst>
          </p:cNvPr>
          <p:cNvSpPr txBox="1"/>
          <p:nvPr/>
        </p:nvSpPr>
        <p:spPr>
          <a:xfrm>
            <a:off x="7173686" y="1529444"/>
            <a:ext cx="3292928" cy="369331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IN" dirty="0" err="1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Preprocessed</a:t>
            </a:r>
            <a:r>
              <a:rPr lang="en-IN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 Dataset</a:t>
            </a:r>
          </a:p>
          <a:p>
            <a:pPr algn="ctr"/>
            <a:r>
              <a:rPr lang="en-IN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        ↓</a:t>
            </a:r>
          </a:p>
          <a:p>
            <a:pPr algn="ctr"/>
            <a:r>
              <a:rPr lang="en-IN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Train–Test Split</a:t>
            </a:r>
          </a:p>
          <a:p>
            <a:pPr algn="ctr"/>
            <a:r>
              <a:rPr lang="en-IN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        ↓</a:t>
            </a:r>
          </a:p>
          <a:p>
            <a:pPr algn="ctr"/>
            <a:r>
              <a:rPr lang="en-IN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Train Multiple ML Models</a:t>
            </a:r>
          </a:p>
          <a:p>
            <a:pPr algn="ctr"/>
            <a:r>
              <a:rPr lang="en-IN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        ↓</a:t>
            </a:r>
          </a:p>
          <a:p>
            <a:pPr algn="ctr"/>
            <a:r>
              <a:rPr lang="en-IN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Generate Predictions</a:t>
            </a:r>
          </a:p>
          <a:p>
            <a:pPr algn="ctr"/>
            <a:r>
              <a:rPr lang="en-IN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        ↓</a:t>
            </a:r>
          </a:p>
          <a:p>
            <a:pPr algn="ctr"/>
            <a:r>
              <a:rPr lang="en-IN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Calculate Evaluation Metrics</a:t>
            </a:r>
          </a:p>
          <a:p>
            <a:pPr algn="ctr"/>
            <a:r>
              <a:rPr lang="en-IN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        ↓</a:t>
            </a:r>
          </a:p>
          <a:p>
            <a:pPr algn="ctr"/>
            <a:r>
              <a:rPr lang="en-IN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Compare Models</a:t>
            </a:r>
          </a:p>
          <a:p>
            <a:pPr algn="ctr"/>
            <a:r>
              <a:rPr lang="en-IN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        ↓</a:t>
            </a:r>
          </a:p>
          <a:p>
            <a:pPr algn="ctr"/>
            <a:r>
              <a:rPr lang="en-IN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Select Best Model</a:t>
            </a:r>
            <a:endParaRPr lang="en-IN" sz="1800" dirty="0"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366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271FD-3E4D-4172-EB3C-EC6634551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21077" cy="786133"/>
          </a:xfrm>
        </p:spPr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Explainable AI – SHAP &amp; LIME </a:t>
            </a: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1C5D6F-B00C-5E1F-DAD9-0F43FCB93E91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10</a:t>
            </a:fld>
            <a:endParaRPr lang="en-US" altLang="zh-C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F35242-509D-AF56-77AC-FFE91C276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82719" y="1655638"/>
            <a:ext cx="10894496" cy="431634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35D9D93-BC6C-C122-4844-A1E113294FA4}"/>
              </a:ext>
            </a:extLst>
          </p:cNvPr>
          <p:cNvSpPr txBox="1"/>
          <p:nvPr/>
        </p:nvSpPr>
        <p:spPr>
          <a:xfrm>
            <a:off x="-488497" y="1696477"/>
            <a:ext cx="681717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Best ML Model</a:t>
            </a:r>
          </a:p>
          <a:p>
            <a:pPr algn="ctr"/>
            <a:r>
              <a:rPr lang="en-US" dirty="0"/>
              <a:t>      ↓</a:t>
            </a:r>
          </a:p>
          <a:p>
            <a:pPr algn="ctr"/>
            <a:r>
              <a:rPr lang="en-US" dirty="0"/>
              <a:t>Risk Prediction</a:t>
            </a:r>
          </a:p>
          <a:p>
            <a:pPr algn="ctr"/>
            <a:r>
              <a:rPr lang="en-US" dirty="0"/>
              <a:t>      ↓</a:t>
            </a:r>
          </a:p>
          <a:p>
            <a:pPr algn="ctr"/>
            <a:r>
              <a:rPr lang="en-US" dirty="0"/>
              <a:t>SHAP + LIME</a:t>
            </a:r>
          </a:p>
          <a:p>
            <a:pPr algn="ctr"/>
            <a:r>
              <a:rPr lang="en-US" dirty="0"/>
              <a:t>      ↓</a:t>
            </a:r>
            <a:r>
              <a:rPr lang="en-IN" dirty="0"/>
              <a:t>.</a:t>
            </a:r>
            <a:endParaRPr lang="en-US" dirty="0"/>
          </a:p>
          <a:p>
            <a:pPr algn="ctr"/>
            <a:r>
              <a:rPr lang="en-US" dirty="0"/>
              <a:t>Feature Contribution</a:t>
            </a:r>
          </a:p>
          <a:p>
            <a:pPr algn="ctr"/>
            <a:r>
              <a:rPr lang="en-US" dirty="0"/>
              <a:t>      ↓</a:t>
            </a:r>
          </a:p>
          <a:p>
            <a:pPr algn="ctr"/>
            <a:r>
              <a:rPr lang="en-US" dirty="0"/>
              <a:t>Reason for Prediction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96982B-9A34-5896-6071-5E6F7057463F}"/>
              </a:ext>
            </a:extLst>
          </p:cNvPr>
          <p:cNvSpPr txBox="1"/>
          <p:nvPr/>
        </p:nvSpPr>
        <p:spPr>
          <a:xfrm>
            <a:off x="1170215" y="4551720"/>
            <a:ext cx="6166757" cy="203132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IN" b="1" dirty="0"/>
              <a:t>SHAP</a:t>
            </a:r>
          </a:p>
          <a:p>
            <a:r>
              <a:rPr lang="en-IN" dirty="0"/>
              <a:t>Explains how each feature contributes to a model prediction.</a:t>
            </a:r>
          </a:p>
          <a:p>
            <a:endParaRPr lang="en-IN" dirty="0"/>
          </a:p>
          <a:p>
            <a:r>
              <a:rPr lang="en-IN" b="1" dirty="0"/>
              <a:t>LIME</a:t>
            </a:r>
          </a:p>
          <a:p>
            <a:r>
              <a:rPr lang="en-IN" dirty="0"/>
              <a:t>Explains individual predictions using a local interpretable model.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 sz="18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77E4DF6-9491-B2F1-8F79-9D01159A4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7246" y="524584"/>
            <a:ext cx="1944793" cy="62184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F0C4DE5-152D-D82F-371A-98FB07B80FCD}"/>
              </a:ext>
            </a:extLst>
          </p:cNvPr>
          <p:cNvSpPr txBox="1"/>
          <p:nvPr/>
        </p:nvSpPr>
        <p:spPr>
          <a:xfrm>
            <a:off x="6917871" y="1883228"/>
            <a:ext cx="4625377" cy="203132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Feature                    Contribution</a:t>
            </a:r>
          </a:p>
          <a:p>
            <a:pPr algn="ctr"/>
            <a:r>
              <a:rPr lang="en-US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----------------      ----------------</a:t>
            </a:r>
          </a:p>
          <a:p>
            <a:pPr algn="ctr"/>
            <a:r>
              <a:rPr lang="en-US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Credit Amount              ↑ Risk</a:t>
            </a:r>
          </a:p>
          <a:p>
            <a:pPr algn="ctr"/>
            <a:r>
              <a:rPr lang="en-US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Credit Duration             ↑ Risk</a:t>
            </a:r>
          </a:p>
          <a:p>
            <a:pPr algn="ctr"/>
            <a:r>
              <a:rPr lang="en-US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Credit History              ↓ Risk</a:t>
            </a:r>
          </a:p>
          <a:p>
            <a:pPr algn="ctr"/>
            <a:r>
              <a:rPr lang="en-US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Savings Account             ↓ Risk</a:t>
            </a:r>
          </a:p>
          <a:p>
            <a:pPr algn="ctr"/>
            <a:r>
              <a:rPr lang="en-US" dirty="0"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  Age                                 ↓ Risk</a:t>
            </a:r>
            <a:endParaRPr lang="en-IN" sz="1800" dirty="0"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084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EB25B-E08D-BA07-723B-927DC08F2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516277" cy="998405"/>
          </a:xfrm>
        </p:spPr>
        <p:txBody>
          <a:bodyPr/>
          <a:lstStyle/>
          <a:p>
            <a:pPr algn="ctr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Risk Score Generation </a:t>
            </a: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80B999-3F13-9F88-1A7B-E148856D0744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995A39-F29C-B029-E7B9-6626CDEE1999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11</a:t>
            </a:fld>
            <a:endParaRPr lang="en-US" altLang="zh-C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CCC464-6C74-BCC3-1786-925B8E5E6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118" y="267682"/>
            <a:ext cx="1944793" cy="6218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EDF0B7-426F-B7D6-7169-E795E2D455D3}"/>
              </a:ext>
            </a:extLst>
          </p:cNvPr>
          <p:cNvSpPr txBox="1"/>
          <p:nvPr/>
        </p:nvSpPr>
        <p:spPr>
          <a:xfrm>
            <a:off x="3045279" y="1830953"/>
            <a:ext cx="610144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Model Prediction</a:t>
            </a:r>
          </a:p>
          <a:p>
            <a:pPr algn="ctr"/>
            <a:r>
              <a:rPr lang="en-US" dirty="0"/>
              <a:t>       ↓</a:t>
            </a:r>
          </a:p>
          <a:p>
            <a:pPr algn="ctr"/>
            <a:r>
              <a:rPr lang="en-US" dirty="0"/>
              <a:t>Default / Risk Probability</a:t>
            </a:r>
          </a:p>
          <a:p>
            <a:pPr algn="ctr"/>
            <a:r>
              <a:rPr lang="en-US" dirty="0"/>
              <a:t>       ↓</a:t>
            </a:r>
          </a:p>
          <a:p>
            <a:pPr algn="ctr"/>
            <a:r>
              <a:rPr lang="en-US" dirty="0"/>
              <a:t>Risk Score: 0–100</a:t>
            </a:r>
          </a:p>
          <a:p>
            <a:pPr algn="ctr"/>
            <a:r>
              <a:rPr lang="en-US" dirty="0"/>
              <a:t>       ↓</a:t>
            </a:r>
          </a:p>
          <a:p>
            <a:pPr algn="ctr"/>
            <a:r>
              <a:rPr lang="en-US" dirty="0"/>
              <a:t>Risk Category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3 types of risk:</a:t>
            </a:r>
          </a:p>
          <a:p>
            <a:pPr algn="ctr"/>
            <a:r>
              <a:rPr lang="en-IN" b="1" dirty="0"/>
              <a:t>Low Risk</a:t>
            </a:r>
            <a:br>
              <a:rPr lang="en-IN" dirty="0"/>
            </a:br>
            <a:r>
              <a:rPr lang="en-IN" b="1" dirty="0"/>
              <a:t>Medium Risk</a:t>
            </a:r>
            <a:br>
              <a:rPr lang="en-IN" dirty="0"/>
            </a:br>
            <a:r>
              <a:rPr lang="en-IN" b="1" dirty="0"/>
              <a:t>High Risk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2315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40D42-9714-B54C-1DE9-50AFAF558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Early-Warning Mechanism </a:t>
            </a: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E7DE26-5730-86DA-20C5-C18EF1E7FED9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E1DE0E-733C-0BA5-9F74-18EE9BE6BC24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12</a:t>
            </a:fld>
            <a:endParaRPr lang="en-US" altLang="zh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50D6CC-02C5-D416-DA94-263ED7D67AC1}"/>
              </a:ext>
            </a:extLst>
          </p:cNvPr>
          <p:cNvSpPr txBox="1"/>
          <p:nvPr/>
        </p:nvSpPr>
        <p:spPr>
          <a:xfrm>
            <a:off x="2909206" y="2048007"/>
            <a:ext cx="610144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Customer Data</a:t>
            </a:r>
          </a:p>
          <a:p>
            <a:pPr algn="ctr"/>
            <a:r>
              <a:rPr lang="en-US" dirty="0"/>
              <a:t>      ↓</a:t>
            </a:r>
          </a:p>
          <a:p>
            <a:pPr algn="ctr"/>
            <a:r>
              <a:rPr lang="en-US" dirty="0"/>
              <a:t>Risk Prediction</a:t>
            </a:r>
          </a:p>
          <a:p>
            <a:pPr algn="ctr"/>
            <a:r>
              <a:rPr lang="en-US" dirty="0"/>
              <a:t>      ↓</a:t>
            </a:r>
          </a:p>
          <a:p>
            <a:pPr algn="ctr"/>
            <a:r>
              <a:rPr lang="en-US" dirty="0"/>
              <a:t>Risk Score</a:t>
            </a:r>
          </a:p>
          <a:p>
            <a:pPr algn="ctr"/>
            <a:r>
              <a:rPr lang="en-US" dirty="0"/>
              <a:t>      ↓</a:t>
            </a:r>
          </a:p>
          <a:p>
            <a:pPr algn="ctr"/>
            <a:r>
              <a:rPr lang="en-US" dirty="0"/>
              <a:t>Risk Category</a:t>
            </a:r>
          </a:p>
          <a:p>
            <a:pPr algn="ctr"/>
            <a:r>
              <a:rPr lang="en-US" dirty="0"/>
              <a:t>      ↓</a:t>
            </a:r>
          </a:p>
          <a:p>
            <a:pPr algn="ctr"/>
            <a:r>
              <a:rPr lang="en-US" dirty="0"/>
              <a:t>Check Risk Threshold</a:t>
            </a:r>
          </a:p>
          <a:p>
            <a:pPr algn="ctr"/>
            <a:r>
              <a:rPr lang="en-US" dirty="0"/>
              <a:t>      ↓</a:t>
            </a:r>
          </a:p>
          <a:p>
            <a:pPr algn="ctr"/>
            <a:r>
              <a:rPr lang="en-US" dirty="0"/>
              <a:t>Early Warning Alert</a:t>
            </a:r>
          </a:p>
          <a:p>
            <a:pPr algn="ctr"/>
            <a:r>
              <a:rPr lang="en-US" dirty="0"/>
              <a:t>      ↓</a:t>
            </a:r>
          </a:p>
          <a:p>
            <a:pPr algn="ctr"/>
            <a:r>
              <a:rPr lang="en-US" dirty="0"/>
              <a:t>Recommended Action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7FF86A7-FE71-6C4F-33D2-5AC43CADD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3318" y="274955"/>
            <a:ext cx="1944793" cy="62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776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446CC6CC-33D7-4181-9969-72896FDB1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581" y="123585"/>
            <a:ext cx="5982419" cy="592407"/>
          </a:xfrm>
        </p:spPr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Optimization Process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30A8DD-65EB-D1E9-81DF-DAAA9451B1A9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13</a:t>
            </a:fld>
            <a:endParaRPr lang="en-US" altLang="zh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794093-1D62-4C2B-D20C-817398E7D33A}"/>
              </a:ext>
            </a:extLst>
          </p:cNvPr>
          <p:cNvSpPr txBox="1"/>
          <p:nvPr/>
        </p:nvSpPr>
        <p:spPr>
          <a:xfrm>
            <a:off x="864268" y="1690062"/>
            <a:ext cx="877503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Baseline Model</a:t>
            </a:r>
          </a:p>
          <a:p>
            <a:pPr algn="ctr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↓</a:t>
            </a:r>
          </a:p>
          <a:p>
            <a:pPr algn="ctr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Define Hyperparameter Search Space</a:t>
            </a:r>
          </a:p>
          <a:p>
            <a:pPr algn="ctr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↓</a:t>
            </a:r>
          </a:p>
          <a:p>
            <a:pPr algn="ctr">
              <a:buNone/>
            </a:pP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Optuna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Trials</a:t>
            </a:r>
          </a:p>
          <a:p>
            <a:pPr algn="ctr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↓</a:t>
            </a:r>
          </a:p>
          <a:p>
            <a:pPr algn="ctr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Evaluate Each Combination</a:t>
            </a:r>
          </a:p>
          <a:p>
            <a:pPr algn="ctr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↓</a:t>
            </a:r>
          </a:p>
          <a:p>
            <a:pPr algn="ctr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Identify Best Parameters</a:t>
            </a:r>
          </a:p>
          <a:p>
            <a:pPr algn="ctr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↓</a:t>
            </a:r>
          </a:p>
          <a:p>
            <a:pPr algn="ctr"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Optimized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875298-C3B4-5824-099E-CBBD74153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7617" y="274955"/>
            <a:ext cx="1944793" cy="62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88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59">
            <a:extLst>
              <a:ext uri="{FF2B5EF4-FFF2-40B4-BE49-F238E27FC236}">
                <a16:creationId xmlns:a16="http://schemas.microsoft.com/office/drawing/2014/main" id="{0031CE36-F77D-3964-C169-771DBA49D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Modern Tools &amp; Technologies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243AAE-D428-CAAE-DCAF-0266FEEEAC7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14</a:t>
            </a:fld>
            <a:endParaRPr lang="en-US" altLang="zh-C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AE569C4-A43A-69B6-4048-551D7BCAE4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566254"/>
              </p:ext>
            </p:extLst>
          </p:nvPr>
        </p:nvGraphicFramePr>
        <p:xfrm>
          <a:off x="587829" y="2057400"/>
          <a:ext cx="10515600" cy="30668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10394694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501879482"/>
                    </a:ext>
                  </a:extLst>
                </a:gridCol>
              </a:tblGrid>
              <a:tr h="872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2018313"/>
                  </a:ext>
                </a:extLst>
              </a:tr>
              <a:tr h="3039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 programming language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3574166"/>
                  </a:ext>
                </a:extLst>
              </a:tr>
              <a:tr h="3039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Pandas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preprocessing &amp;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2699252"/>
                  </a:ext>
                </a:extLst>
              </a:tr>
              <a:tr h="3039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Matplotlib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visualization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1724248"/>
                  </a:ext>
                </a:extLst>
              </a:tr>
              <a:tr h="3039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Scikit-learn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ML models &amp; evaluation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1353706"/>
                  </a:ext>
                </a:extLst>
              </a:tr>
              <a:tr h="3039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XGBoost / LightGBM / CatBoost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Advanced ML models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4276527"/>
                  </a:ext>
                </a:extLst>
              </a:tr>
              <a:tr h="3039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SHAP + LIME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Explainable 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4263065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2A6B980C-0E6A-060B-FA26-A6FE91716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032" y="153290"/>
            <a:ext cx="1944793" cy="62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148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A6FAA-79B6-DDFF-DE2E-72467FBAA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CFE46-9C19-9A8C-6CFE-431670E37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Implementation &amp; Expected Results</a:t>
            </a: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062E63-EC5F-7360-9D58-CAD3CF0CEBFB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BAA8C4-0511-C001-33A9-990FF3119DCF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15</a:t>
            </a:fld>
            <a:endParaRPr lang="en-US" altLang="zh-C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4422EC-FAF2-DA1B-BDCA-11FB81790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3318" y="274955"/>
            <a:ext cx="1944793" cy="6218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B7862A-2B6B-3F40-3DDD-BE8B92D55425}"/>
              </a:ext>
            </a:extLst>
          </p:cNvPr>
          <p:cNvSpPr txBox="1"/>
          <p:nvPr/>
        </p:nvSpPr>
        <p:spPr>
          <a:xfrm>
            <a:off x="3050722" y="2141782"/>
            <a:ext cx="610144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Dataset Loading              ✓</a:t>
            </a:r>
          </a:p>
          <a:p>
            <a:r>
              <a:rPr lang="en-IN" dirty="0"/>
              <a:t>Data Preprocessing            ✓</a:t>
            </a:r>
          </a:p>
          <a:p>
            <a:r>
              <a:rPr lang="en-IN" dirty="0"/>
              <a:t>Missing Value Analysis        ✓</a:t>
            </a:r>
          </a:p>
          <a:p>
            <a:r>
              <a:rPr lang="en-IN" dirty="0"/>
              <a:t>Duplicate Analysis            ✓</a:t>
            </a:r>
          </a:p>
          <a:p>
            <a:r>
              <a:rPr lang="en-IN" dirty="0"/>
              <a:t>EDA                           ✓</a:t>
            </a:r>
          </a:p>
          <a:p>
            <a:r>
              <a:rPr lang="en-IN" dirty="0"/>
              <a:t>Descriptive Analysis          ✓</a:t>
            </a:r>
          </a:p>
          <a:p>
            <a:r>
              <a:rPr lang="en-IN" dirty="0"/>
              <a:t>Outlier Analysis              ✓</a:t>
            </a:r>
          </a:p>
          <a:p>
            <a:r>
              <a:rPr lang="en-IN" dirty="0"/>
              <a:t>Feature Engineering           ✓</a:t>
            </a:r>
          </a:p>
          <a:p>
            <a:r>
              <a:rPr lang="en-IN" dirty="0"/>
              <a:t>Feature Selection             ✓</a:t>
            </a:r>
          </a:p>
        </p:txBody>
      </p:sp>
    </p:spTree>
    <p:extLst>
      <p:ext uri="{BB962C8B-B14F-4D97-AF65-F5344CB8AC3E}">
        <p14:creationId xmlns:p14="http://schemas.microsoft.com/office/powerpoint/2010/main" val="1710085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21E73BA-53B9-C0C1-476A-00736A64A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0836" y="96738"/>
            <a:ext cx="7895664" cy="2277580"/>
          </a:xfrm>
        </p:spPr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Interactive Dashboard </a:t>
            </a:r>
            <a:b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C503-BABC-632E-06CA-12C8474920EB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16</a:t>
            </a:fld>
            <a:endParaRPr lang="en-US" altLang="zh-C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24178E-FF28-00A8-A67F-5D3A0F482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6732" y="173025"/>
            <a:ext cx="1944793" cy="6218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C7C513-BCA8-5F7D-45B7-E80D3CC05F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4" r="2258" b="1"/>
          <a:stretch>
            <a:fillRect/>
          </a:stretch>
        </p:blipFill>
        <p:spPr>
          <a:xfrm>
            <a:off x="865414" y="794871"/>
            <a:ext cx="9661072" cy="52115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BB1E2A2-C7E3-8B3D-826F-12D6C586CE9B}"/>
              </a:ext>
            </a:extLst>
          </p:cNvPr>
          <p:cNvSpPr txBox="1"/>
          <p:nvPr/>
        </p:nvSpPr>
        <p:spPr>
          <a:xfrm>
            <a:off x="721788" y="6058208"/>
            <a:ext cx="9948324" cy="58477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 err="1"/>
              <a:t>Optuna</a:t>
            </a:r>
            <a:r>
              <a:rPr lang="en-IN" sz="1600" b="1" dirty="0"/>
              <a:t> Optimization:</a:t>
            </a:r>
            <a:r>
              <a:rPr lang="en-IN" sz="1600" dirty="0"/>
              <a:t> The system tested </a:t>
            </a:r>
            <a:r>
              <a:rPr lang="en-IN" sz="1600" b="1" dirty="0"/>
              <a:t>15 trials</a:t>
            </a:r>
            <a:r>
              <a:rPr lang="en-IN" sz="1600" dirty="0"/>
              <a:t> and identified the best Random Forest configuration at </a:t>
            </a:r>
            <a:r>
              <a:rPr lang="en-IN" sz="1600" b="1" dirty="0"/>
              <a:t>Trial 14</a:t>
            </a:r>
            <a:r>
              <a:rPr lang="en-IN" sz="1600" dirty="0"/>
              <a:t>, achieving a </a:t>
            </a:r>
            <a:r>
              <a:rPr lang="en-IN" sz="1600" b="1" dirty="0"/>
              <a:t>45.46% ROC-AUC</a:t>
            </a:r>
            <a:r>
              <a:rPr lang="en-IN" sz="1600" dirty="0"/>
              <a:t> for the selected optimization run.</a:t>
            </a:r>
            <a:endParaRPr lang="en-IN" sz="16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727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97840-ECC7-AFFF-1F1D-A86384B51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3341D3-31B7-B9D6-D79E-C813D2AD68F8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17</a:t>
            </a:fld>
            <a:endParaRPr lang="en-US" altLang="zh-C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B94E3D-9AB8-D0EA-9014-8F9615A43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6732" y="173025"/>
            <a:ext cx="1944793" cy="6218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CF8005-F88A-456F-271E-0F86FA4D59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71" y="859638"/>
            <a:ext cx="10014859" cy="51387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074CA9C-E97F-1A3B-B979-6DF43D4D486F}"/>
              </a:ext>
            </a:extLst>
          </p:cNvPr>
          <p:cNvSpPr txBox="1"/>
          <p:nvPr/>
        </p:nvSpPr>
        <p:spPr>
          <a:xfrm>
            <a:off x="493513" y="6063129"/>
            <a:ext cx="10700656" cy="58477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Explainability &amp; Stability:</a:t>
            </a:r>
            <a:r>
              <a:rPr lang="en-IN" sz="1600" dirty="0"/>
              <a:t> </a:t>
            </a:r>
            <a:r>
              <a:rPr lang="en-IN" sz="1600" b="1" dirty="0"/>
              <a:t>SHAP and LIME</a:t>
            </a:r>
            <a:r>
              <a:rPr lang="en-IN" sz="1600" dirty="0"/>
              <a:t> explanations are evaluated using </a:t>
            </a:r>
            <a:r>
              <a:rPr lang="en-IN" sz="1600" b="1" dirty="0"/>
              <a:t>Fidelity, Infidelity, and Stability</a:t>
            </a:r>
            <a:r>
              <a:rPr lang="en-IN" sz="1600" dirty="0"/>
              <a:t>. Fidelity indicates how closely the explanation represents the model, while lower infidelity indicates less explanation error.</a:t>
            </a:r>
            <a:endParaRPr lang="en-IN" sz="16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6291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D1D27-A976-9BA6-EA0B-4A48B8CCB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25B9E-4605-3D40-EBC0-5AA4F09CB8B1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18</a:t>
            </a:fld>
            <a:endParaRPr lang="en-US" altLang="zh-C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1B62B4-D753-54B3-5284-5A5ECEF28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6732" y="173025"/>
            <a:ext cx="1944793" cy="6218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009082-943C-F9A9-E763-DB494EAED9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161" y="794871"/>
            <a:ext cx="9463038" cy="49562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67F4B7-F542-AA53-650C-A1182B0CBFEC}"/>
              </a:ext>
            </a:extLst>
          </p:cNvPr>
          <p:cNvSpPr txBox="1"/>
          <p:nvPr/>
        </p:nvSpPr>
        <p:spPr>
          <a:xfrm>
            <a:off x="1349828" y="5867400"/>
            <a:ext cx="9318171" cy="86177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Comparative Results:</a:t>
            </a:r>
            <a:r>
              <a:rPr lang="en-IN" sz="1600" dirty="0"/>
              <a:t> The models are compared using </a:t>
            </a:r>
            <a:r>
              <a:rPr lang="en-IN" sz="1600" b="1" dirty="0"/>
              <a:t>Accuracy, ROC-AUC, Fidelity, Infidelity, Stability, and Consensus</a:t>
            </a:r>
            <a:r>
              <a:rPr lang="en-IN" sz="1600" dirty="0"/>
              <a:t>, giving a combined view of both </a:t>
            </a:r>
            <a:r>
              <a:rPr lang="en-IN" sz="1600" b="1" dirty="0"/>
              <a:t>prediction performance and explanation reliability</a:t>
            </a:r>
            <a:r>
              <a:rPr lang="en-IN" sz="1600" dirty="0"/>
              <a:t>. 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IN" sz="18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938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pic>
        <p:nvPicPr>
          <p:cNvPr id="39" name="Picture Placeholder 31">
            <a:extLst>
              <a:ext uri="{FF2B5EF4-FFF2-40B4-BE49-F238E27FC236}">
                <a16:creationId xmlns:a16="http://schemas.microsoft.com/office/drawing/2014/main" id="{6037332D-8714-C147-6E64-3654D8C57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31165-F745-171F-F6EC-07FDD4E3E06C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19</a:t>
            </a:fld>
            <a:endParaRPr lang="en-US" altLang="zh-C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FE664C-E5E5-BE37-7C7C-79A1C5FA15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7617" y="140834"/>
            <a:ext cx="1944793" cy="62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53338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Light Presentation_win32_v5" id="{045A9B2F-7300-4673-816B-F1EB3C673B2C}" vid="{27F8BD87-6984-44CA-8D4F-354B20CB0C1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AD9BE2-6B3D-4616-B044-300A8177DEA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5515263-A3DE-4193-B6AA-5C449C9451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4CFA8B0-C7B8-4655-A378-2962C04794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1436</TotalTime>
  <Words>1217</Words>
  <Application>Microsoft Office PowerPoint</Application>
  <PresentationFormat>Widescreen</PresentationFormat>
  <Paragraphs>272</Paragraphs>
  <Slides>19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等线</vt:lpstr>
      <vt:lpstr>Abadi</vt:lpstr>
      <vt:lpstr>Arial</vt:lpstr>
      <vt:lpstr>Calibri</vt:lpstr>
      <vt:lpstr>Cambria</vt:lpstr>
      <vt:lpstr>Posterama</vt:lpstr>
      <vt:lpstr>Posterama Text Black</vt:lpstr>
      <vt:lpstr>Posterama Text SemiBold</vt:lpstr>
      <vt:lpstr>Custom​​</vt:lpstr>
      <vt:lpstr>     Data Analytics and Visualization (24DSB3101)   An Explainable Machine Learning Framework for Predictive Financial Risk Assessment and Early Warning   PROJECT REVIEW – 2   Under the Guidance of   Dr. K. Swapnika Assistant Professor   Department of Computer Science and Engineering                                                                                                                                 Submitted by: Batch 8                                                                                                                                    2420080024 – P. Sai Akshitha                                                                                                                                 2420080065 – K. Nithya Sri                                                                                                                                   2420080100 – Syed Zuvaria                                                                                                                                 2420090076 – S. Sushmita   </vt:lpstr>
      <vt:lpstr> Contents </vt:lpstr>
      <vt:lpstr>Proposed Methodology </vt:lpstr>
      <vt:lpstr>Dataset &amp; Data Preprocessing</vt:lpstr>
      <vt:lpstr>System Architecture</vt:lpstr>
      <vt:lpstr>PowerPoint Presentation</vt:lpstr>
      <vt:lpstr>Baseline Machine Learning Models</vt:lpstr>
      <vt:lpstr>Optuna-Based Model Optimization</vt:lpstr>
      <vt:lpstr>Model Evaluation &amp; Selection  </vt:lpstr>
      <vt:lpstr>Explainable AI – SHAP &amp; LIME  </vt:lpstr>
      <vt:lpstr>Risk Score Generation  </vt:lpstr>
      <vt:lpstr>Early-Warning Mechanism  </vt:lpstr>
      <vt:lpstr>Optimization Process</vt:lpstr>
      <vt:lpstr>Modern Tools &amp; Technologies</vt:lpstr>
      <vt:lpstr>Implementation &amp; Expected Results </vt:lpstr>
      <vt:lpstr>Interactive Dashboard  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Pillarisetti Sai Akshitha</dc:creator>
  <cp:lastModifiedBy>Sushmita S</cp:lastModifiedBy>
  <cp:revision>33</cp:revision>
  <dcterms:created xsi:type="dcterms:W3CDTF">2026-08-13T06:04:19Z</dcterms:created>
  <dcterms:modified xsi:type="dcterms:W3CDTF">2026-09-26T05:31:24Z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